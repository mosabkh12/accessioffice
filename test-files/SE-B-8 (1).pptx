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</p:sldIdLst>
  <p:sldSz cx="18288000" cy="10287000"/>
  <p:notesSz cx="6858000" cy="9144000"/>
  <p:embeddedFontLst>
    <p:embeddedFont>
      <p:font typeface="Suez One" panose="020F0502020204030204" pitchFamily="2" charset="-79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595" autoAdjust="0"/>
  </p:normalViewPr>
  <p:slideViewPr>
    <p:cSldViewPr>
      <p:cViewPr varScale="1">
        <p:scale>
          <a:sx n="62" d="100"/>
          <a:sy n="62" d="100"/>
        </p:scale>
        <p:origin x="12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AutoShape 3"/>
          <p:cNvSpPr/>
          <p:nvPr/>
        </p:nvSpPr>
        <p:spPr>
          <a:xfrm flipV="1">
            <a:off x="6127216" y="688410"/>
            <a:ext cx="1105512" cy="0"/>
          </a:xfrm>
          <a:prstGeom prst="line">
            <a:avLst/>
          </a:prstGeom>
          <a:ln w="38100" cap="flat">
            <a:solidFill>
              <a:srgbClr val="36D48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141753" y="2134213"/>
            <a:ext cx="18606981" cy="78412"/>
          </a:xfrm>
          <a:custGeom>
            <a:avLst/>
            <a:gdLst/>
            <a:ahLst/>
            <a:cxnLst/>
            <a:rect l="l" t="t" r="r" b="b"/>
            <a:pathLst>
              <a:path w="18606981" h="78412">
                <a:moveTo>
                  <a:pt x="0" y="0"/>
                </a:moveTo>
                <a:lnTo>
                  <a:pt x="18606982" y="0"/>
                </a:lnTo>
                <a:lnTo>
                  <a:pt x="18606982" y="78412"/>
                </a:lnTo>
                <a:lnTo>
                  <a:pt x="0" y="7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31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6" name="TextBox 16"/>
          <p:cNvSpPr txBox="1"/>
          <p:nvPr/>
        </p:nvSpPr>
        <p:spPr>
          <a:xfrm>
            <a:off x="6127216" y="-27229"/>
            <a:ext cx="1615432" cy="1205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</a:rPr>
              <a:t>SE-B-8</a:t>
            </a:r>
          </a:p>
          <a:p>
            <a:pPr algn="ctr" rtl="1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162B57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27216" y="659835"/>
            <a:ext cx="7122021" cy="181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2606">
                <a:solidFill>
                  <a:srgbClr val="36D488"/>
                </a:solidFill>
                <a:latin typeface="Suez One"/>
                <a:ea typeface="Suez One"/>
                <a:cs typeface="Suez One"/>
                <a:sym typeface="Suez One"/>
              </a:rPr>
              <a:t>Software Engineering</a:t>
            </a:r>
          </a:p>
          <a:p>
            <a:pPr algn="r" rtl="1">
              <a:lnSpc>
                <a:spcPts val="3649"/>
              </a:lnSpc>
            </a:pPr>
            <a:r>
              <a:rPr lang="ar-EG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  <a:rtl/>
              </a:rPr>
              <a:t>    </a:t>
            </a:r>
            <a:r>
              <a:rPr lang="en-US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</a:rPr>
              <a:t>Students: Tal Israel Refaelov and Gal Yossef</a:t>
            </a:r>
          </a:p>
          <a:p>
            <a:pPr algn="l" rtl="1">
              <a:lnSpc>
                <a:spcPts val="3649"/>
              </a:lnSpc>
              <a:spcBef>
                <a:spcPct val="0"/>
              </a:spcBef>
            </a:pPr>
            <a:r>
              <a:rPr lang="ar-EG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  <a:rtl/>
              </a:rPr>
              <a:t>    </a:t>
            </a:r>
            <a:r>
              <a:rPr lang="en-US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</a:rPr>
              <a:t>Advisor: Ms. Alona Kutsyy</a:t>
            </a:r>
          </a:p>
          <a:p>
            <a:pPr algn="l" rtl="1">
              <a:lnSpc>
                <a:spcPts val="3649"/>
              </a:lnSpc>
              <a:spcBef>
                <a:spcPct val="0"/>
              </a:spcBef>
            </a:pPr>
            <a:endParaRPr lang="en-US" sz="2606">
              <a:solidFill>
                <a:srgbClr val="162B57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349B89B3-61A1-49DF-3F14-EE278BD16F5F}"/>
              </a:ext>
            </a:extLst>
          </p:cNvPr>
          <p:cNvSpPr/>
          <p:nvPr/>
        </p:nvSpPr>
        <p:spPr>
          <a:xfrm>
            <a:off x="3103485" y="3268815"/>
            <a:ext cx="2223584" cy="1780465"/>
          </a:xfrm>
          <a:custGeom>
            <a:avLst/>
            <a:gdLst/>
            <a:ahLst/>
            <a:cxnLst/>
            <a:rect l="l" t="t" r="r" b="b"/>
            <a:pathLst>
              <a:path w="2223584" h="1780465">
                <a:moveTo>
                  <a:pt x="0" y="0"/>
                </a:moveTo>
                <a:lnTo>
                  <a:pt x="2223584" y="0"/>
                </a:lnTo>
                <a:lnTo>
                  <a:pt x="2223584" y="1780465"/>
                </a:lnTo>
                <a:lnTo>
                  <a:pt x="0" y="1780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4887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164AFE52-94A5-B89E-5EC3-76D44B086822}"/>
              </a:ext>
            </a:extLst>
          </p:cNvPr>
          <p:cNvSpPr/>
          <p:nvPr/>
        </p:nvSpPr>
        <p:spPr>
          <a:xfrm>
            <a:off x="3642914" y="3617949"/>
            <a:ext cx="1144725" cy="1179625"/>
          </a:xfrm>
          <a:custGeom>
            <a:avLst/>
            <a:gdLst/>
            <a:ahLst/>
            <a:cxnLst/>
            <a:rect l="l" t="t" r="r" b="b"/>
            <a:pathLst>
              <a:path w="1144725" h="1179625">
                <a:moveTo>
                  <a:pt x="0" y="0"/>
                </a:moveTo>
                <a:lnTo>
                  <a:pt x="1144725" y="0"/>
                </a:lnTo>
                <a:lnTo>
                  <a:pt x="1144725" y="1179625"/>
                </a:lnTo>
                <a:lnTo>
                  <a:pt x="0" y="1179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9" name="Group 7">
            <a:extLst>
              <a:ext uri="{FF2B5EF4-FFF2-40B4-BE49-F238E27FC236}">
                <a16:creationId xmlns:a16="http://schemas.microsoft.com/office/drawing/2014/main" id="{6D02F9DF-284F-0068-AB54-C4574E06EB08}"/>
              </a:ext>
            </a:extLst>
          </p:cNvPr>
          <p:cNvGrpSpPr/>
          <p:nvPr/>
        </p:nvGrpSpPr>
        <p:grpSpPr>
          <a:xfrm>
            <a:off x="467323" y="5399591"/>
            <a:ext cx="7495908" cy="640461"/>
            <a:chOff x="0" y="0"/>
            <a:chExt cx="1974231" cy="168681"/>
          </a:xfrm>
        </p:grpSpPr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3E44270C-EFE7-4A09-437C-2C5A9ED89D5D}"/>
                </a:ext>
              </a:extLst>
            </p:cNvPr>
            <p:cNvSpPr/>
            <p:nvPr/>
          </p:nvSpPr>
          <p:spPr>
            <a:xfrm>
              <a:off x="0" y="0"/>
              <a:ext cx="1974231" cy="168681"/>
            </a:xfrm>
            <a:custGeom>
              <a:avLst/>
              <a:gdLst/>
              <a:ahLst/>
              <a:cxnLst/>
              <a:rect l="l" t="t" r="r" b="b"/>
              <a:pathLst>
                <a:path w="1974231" h="168681">
                  <a:moveTo>
                    <a:pt x="0" y="0"/>
                  </a:moveTo>
                  <a:lnTo>
                    <a:pt x="1974231" y="0"/>
                  </a:lnTo>
                  <a:lnTo>
                    <a:pt x="1974231" y="168681"/>
                  </a:lnTo>
                  <a:lnTo>
                    <a:pt x="0" y="168681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TextBox 9">
              <a:extLst>
                <a:ext uri="{FF2B5EF4-FFF2-40B4-BE49-F238E27FC236}">
                  <a16:creationId xmlns:a16="http://schemas.microsoft.com/office/drawing/2014/main" id="{5D0572C9-7CB0-4E59-10D6-AD486980630C}"/>
                </a:ext>
              </a:extLst>
            </p:cNvPr>
            <p:cNvSpPr txBox="1"/>
            <p:nvPr/>
          </p:nvSpPr>
          <p:spPr>
            <a:xfrm>
              <a:off x="0" y="-57150"/>
              <a:ext cx="1974231" cy="225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INTRODUCTION</a:t>
              </a:r>
            </a:p>
          </p:txBody>
        </p:sp>
      </p:grpSp>
      <p:sp>
        <p:nvSpPr>
          <p:cNvPr id="42" name="Freeform 10">
            <a:extLst>
              <a:ext uri="{FF2B5EF4-FFF2-40B4-BE49-F238E27FC236}">
                <a16:creationId xmlns:a16="http://schemas.microsoft.com/office/drawing/2014/main" id="{A2833FEF-AF27-0084-B1C3-A3A9309F5D77}"/>
              </a:ext>
            </a:extLst>
          </p:cNvPr>
          <p:cNvSpPr/>
          <p:nvPr/>
        </p:nvSpPr>
        <p:spPr>
          <a:xfrm>
            <a:off x="591490" y="5399591"/>
            <a:ext cx="617369" cy="617369"/>
          </a:xfrm>
          <a:custGeom>
            <a:avLst/>
            <a:gdLst/>
            <a:ahLst/>
            <a:cxnLst/>
            <a:rect l="l" t="t" r="r" b="b"/>
            <a:pathLst>
              <a:path w="617369" h="617369">
                <a:moveTo>
                  <a:pt x="0" y="0"/>
                </a:moveTo>
                <a:lnTo>
                  <a:pt x="617369" y="0"/>
                </a:lnTo>
                <a:lnTo>
                  <a:pt x="617369" y="617370"/>
                </a:lnTo>
                <a:lnTo>
                  <a:pt x="0" y="617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3" name="Group 11">
            <a:extLst>
              <a:ext uri="{FF2B5EF4-FFF2-40B4-BE49-F238E27FC236}">
                <a16:creationId xmlns:a16="http://schemas.microsoft.com/office/drawing/2014/main" id="{BE3C7764-CF4D-A7AB-4A9F-22BD01D4F388}"/>
              </a:ext>
            </a:extLst>
          </p:cNvPr>
          <p:cNvGrpSpPr/>
          <p:nvPr/>
        </p:nvGrpSpPr>
        <p:grpSpPr>
          <a:xfrm>
            <a:off x="467323" y="7775951"/>
            <a:ext cx="7495908" cy="640461"/>
            <a:chOff x="0" y="0"/>
            <a:chExt cx="1974231" cy="168681"/>
          </a:xfrm>
        </p:grpSpPr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AC9F60CF-08EB-1B18-0082-8DF1D001CEAF}"/>
                </a:ext>
              </a:extLst>
            </p:cNvPr>
            <p:cNvSpPr/>
            <p:nvPr/>
          </p:nvSpPr>
          <p:spPr>
            <a:xfrm>
              <a:off x="0" y="0"/>
              <a:ext cx="1974231" cy="168681"/>
            </a:xfrm>
            <a:custGeom>
              <a:avLst/>
              <a:gdLst/>
              <a:ahLst/>
              <a:cxnLst/>
              <a:rect l="l" t="t" r="r" b="b"/>
              <a:pathLst>
                <a:path w="1974231" h="168681">
                  <a:moveTo>
                    <a:pt x="0" y="0"/>
                  </a:moveTo>
                  <a:lnTo>
                    <a:pt x="1974231" y="0"/>
                  </a:lnTo>
                  <a:lnTo>
                    <a:pt x="1974231" y="168681"/>
                  </a:lnTo>
                  <a:lnTo>
                    <a:pt x="0" y="168681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TextBox 13">
              <a:extLst>
                <a:ext uri="{FF2B5EF4-FFF2-40B4-BE49-F238E27FC236}">
                  <a16:creationId xmlns:a16="http://schemas.microsoft.com/office/drawing/2014/main" id="{1327FE5A-9A95-14B5-A8A2-7D5225D0AA1E}"/>
                </a:ext>
              </a:extLst>
            </p:cNvPr>
            <p:cNvSpPr txBox="1"/>
            <p:nvPr/>
          </p:nvSpPr>
          <p:spPr>
            <a:xfrm>
              <a:off x="0" y="-57150"/>
              <a:ext cx="1974231" cy="225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GOALS</a:t>
              </a:r>
            </a:p>
          </p:txBody>
        </p:sp>
      </p:grpSp>
      <p:sp>
        <p:nvSpPr>
          <p:cNvPr id="46" name="Freeform 14">
            <a:extLst>
              <a:ext uri="{FF2B5EF4-FFF2-40B4-BE49-F238E27FC236}">
                <a16:creationId xmlns:a16="http://schemas.microsoft.com/office/drawing/2014/main" id="{F4320FEE-6FD9-AD60-7ACB-CAD971541119}"/>
              </a:ext>
            </a:extLst>
          </p:cNvPr>
          <p:cNvSpPr/>
          <p:nvPr/>
        </p:nvSpPr>
        <p:spPr>
          <a:xfrm>
            <a:off x="591490" y="7775951"/>
            <a:ext cx="617369" cy="617369"/>
          </a:xfrm>
          <a:custGeom>
            <a:avLst/>
            <a:gdLst/>
            <a:ahLst/>
            <a:cxnLst/>
            <a:rect l="l" t="t" r="r" b="b"/>
            <a:pathLst>
              <a:path w="617369" h="617369">
                <a:moveTo>
                  <a:pt x="0" y="0"/>
                </a:moveTo>
                <a:lnTo>
                  <a:pt x="617369" y="0"/>
                </a:lnTo>
                <a:lnTo>
                  <a:pt x="617369" y="617370"/>
                </a:lnTo>
                <a:lnTo>
                  <a:pt x="0" y="617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494C58EA-F7C7-66D4-0C92-B2563914C5AD}"/>
              </a:ext>
            </a:extLst>
          </p:cNvPr>
          <p:cNvGrpSpPr/>
          <p:nvPr/>
        </p:nvGrpSpPr>
        <p:grpSpPr>
          <a:xfrm>
            <a:off x="8958559" y="2354113"/>
            <a:ext cx="8765938" cy="691404"/>
            <a:chOff x="0" y="0"/>
            <a:chExt cx="2308724" cy="182098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824797B-32A5-2A84-7DE0-BD80795C20BB}"/>
                </a:ext>
              </a:extLst>
            </p:cNvPr>
            <p:cNvSpPr/>
            <p:nvPr/>
          </p:nvSpPr>
          <p:spPr>
            <a:xfrm>
              <a:off x="0" y="0"/>
              <a:ext cx="2308725" cy="182098"/>
            </a:xfrm>
            <a:custGeom>
              <a:avLst/>
              <a:gdLst/>
              <a:ahLst/>
              <a:cxnLst/>
              <a:rect l="l" t="t" r="r" b="b"/>
              <a:pathLst>
                <a:path w="2308725" h="182098">
                  <a:moveTo>
                    <a:pt x="0" y="0"/>
                  </a:moveTo>
                  <a:lnTo>
                    <a:pt x="2308725" y="0"/>
                  </a:lnTo>
                  <a:lnTo>
                    <a:pt x="2308725" y="182098"/>
                  </a:lnTo>
                  <a:lnTo>
                    <a:pt x="0" y="182098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1E71922B-1470-B773-DAFE-DC3D5704F865}"/>
                </a:ext>
              </a:extLst>
            </p:cNvPr>
            <p:cNvSpPr txBox="1"/>
            <p:nvPr/>
          </p:nvSpPr>
          <p:spPr>
            <a:xfrm>
              <a:off x="0" y="-57150"/>
              <a:ext cx="2308724" cy="239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PROBLEM DEFINITION</a:t>
              </a:r>
            </a:p>
          </p:txBody>
        </p:sp>
      </p:grpSp>
      <p:sp>
        <p:nvSpPr>
          <p:cNvPr id="50" name="Freeform 18">
            <a:extLst>
              <a:ext uri="{FF2B5EF4-FFF2-40B4-BE49-F238E27FC236}">
                <a16:creationId xmlns:a16="http://schemas.microsoft.com/office/drawing/2014/main" id="{0D49EDFF-E794-E477-C449-325703090551}"/>
              </a:ext>
            </a:extLst>
          </p:cNvPr>
          <p:cNvSpPr/>
          <p:nvPr/>
        </p:nvSpPr>
        <p:spPr>
          <a:xfrm>
            <a:off x="8958559" y="2447260"/>
            <a:ext cx="598257" cy="598257"/>
          </a:xfrm>
          <a:custGeom>
            <a:avLst/>
            <a:gdLst/>
            <a:ahLst/>
            <a:cxnLst/>
            <a:rect l="l" t="t" r="r" b="b"/>
            <a:pathLst>
              <a:path w="598257" h="598257">
                <a:moveTo>
                  <a:pt x="0" y="0"/>
                </a:moveTo>
                <a:lnTo>
                  <a:pt x="598257" y="0"/>
                </a:lnTo>
                <a:lnTo>
                  <a:pt x="598257" y="598258"/>
                </a:lnTo>
                <a:lnTo>
                  <a:pt x="0" y="598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1" name="Group 19">
            <a:extLst>
              <a:ext uri="{FF2B5EF4-FFF2-40B4-BE49-F238E27FC236}">
                <a16:creationId xmlns:a16="http://schemas.microsoft.com/office/drawing/2014/main" id="{EFB9F058-EBBC-ECF3-A4CC-85D19BE6F220}"/>
              </a:ext>
            </a:extLst>
          </p:cNvPr>
          <p:cNvGrpSpPr/>
          <p:nvPr/>
        </p:nvGrpSpPr>
        <p:grpSpPr>
          <a:xfrm>
            <a:off x="8966771" y="4487432"/>
            <a:ext cx="8757726" cy="658648"/>
            <a:chOff x="0" y="0"/>
            <a:chExt cx="2306561" cy="173471"/>
          </a:xfrm>
        </p:grpSpPr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4F6D1EEA-50BB-B590-36C3-1687D619C1C5}"/>
                </a:ext>
              </a:extLst>
            </p:cNvPr>
            <p:cNvSpPr/>
            <p:nvPr/>
          </p:nvSpPr>
          <p:spPr>
            <a:xfrm>
              <a:off x="0" y="0"/>
              <a:ext cx="2306562" cy="173471"/>
            </a:xfrm>
            <a:custGeom>
              <a:avLst/>
              <a:gdLst/>
              <a:ahLst/>
              <a:cxnLst/>
              <a:rect l="l" t="t" r="r" b="b"/>
              <a:pathLst>
                <a:path w="2306562" h="173471">
                  <a:moveTo>
                    <a:pt x="0" y="0"/>
                  </a:moveTo>
                  <a:lnTo>
                    <a:pt x="2306562" y="0"/>
                  </a:lnTo>
                  <a:lnTo>
                    <a:pt x="2306562" y="173471"/>
                  </a:lnTo>
                  <a:lnTo>
                    <a:pt x="0" y="173471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TextBox 21">
              <a:extLst>
                <a:ext uri="{FF2B5EF4-FFF2-40B4-BE49-F238E27FC236}">
                  <a16:creationId xmlns:a16="http://schemas.microsoft.com/office/drawing/2014/main" id="{0F507487-C749-B326-D15A-8F0F508200D3}"/>
                </a:ext>
              </a:extLst>
            </p:cNvPr>
            <p:cNvSpPr txBox="1"/>
            <p:nvPr/>
          </p:nvSpPr>
          <p:spPr>
            <a:xfrm>
              <a:off x="0" y="-57150"/>
              <a:ext cx="2306561" cy="230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SOLUTION DESCRIPTION</a:t>
              </a:r>
            </a:p>
          </p:txBody>
        </p:sp>
      </p:grpSp>
      <p:sp>
        <p:nvSpPr>
          <p:cNvPr id="54" name="Freeform 22">
            <a:extLst>
              <a:ext uri="{FF2B5EF4-FFF2-40B4-BE49-F238E27FC236}">
                <a16:creationId xmlns:a16="http://schemas.microsoft.com/office/drawing/2014/main" id="{62E1561E-7121-E573-494C-F2ED8DE7F519}"/>
              </a:ext>
            </a:extLst>
          </p:cNvPr>
          <p:cNvSpPr/>
          <p:nvPr/>
        </p:nvSpPr>
        <p:spPr>
          <a:xfrm>
            <a:off x="9025390" y="4532683"/>
            <a:ext cx="450966" cy="568146"/>
          </a:xfrm>
          <a:custGeom>
            <a:avLst/>
            <a:gdLst/>
            <a:ahLst/>
            <a:cxnLst/>
            <a:rect l="l" t="t" r="r" b="b"/>
            <a:pathLst>
              <a:path w="450966" h="568146">
                <a:moveTo>
                  <a:pt x="0" y="0"/>
                </a:moveTo>
                <a:lnTo>
                  <a:pt x="450966" y="0"/>
                </a:lnTo>
                <a:lnTo>
                  <a:pt x="450966" y="568146"/>
                </a:lnTo>
                <a:lnTo>
                  <a:pt x="0" y="568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5" name="Group 23">
            <a:extLst>
              <a:ext uri="{FF2B5EF4-FFF2-40B4-BE49-F238E27FC236}">
                <a16:creationId xmlns:a16="http://schemas.microsoft.com/office/drawing/2014/main" id="{4F787AF4-DA96-538F-F014-83CC3CC33FFA}"/>
              </a:ext>
            </a:extLst>
          </p:cNvPr>
          <p:cNvGrpSpPr>
            <a:grpSpLocks noChangeAspect="1"/>
          </p:cNvGrpSpPr>
          <p:nvPr/>
        </p:nvGrpSpPr>
        <p:grpSpPr>
          <a:xfrm>
            <a:off x="13724222" y="7578096"/>
            <a:ext cx="2139102" cy="2139102"/>
            <a:chOff x="0" y="0"/>
            <a:chExt cx="14840029" cy="14840029"/>
          </a:xfrm>
        </p:grpSpPr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DCCE3F67-9465-6198-7A17-D5DF9738B80F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39C96895-E4DA-CF36-E10C-2F525232CA56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1A377911-E79E-27E9-E21A-0971A52AF9ED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10"/>
              <a:stretch>
                <a:fillRect l="-91887" t="-111450" r="-109299" b="-191929"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59" name="Group 27">
            <a:extLst>
              <a:ext uri="{FF2B5EF4-FFF2-40B4-BE49-F238E27FC236}">
                <a16:creationId xmlns:a16="http://schemas.microsoft.com/office/drawing/2014/main" id="{E634FB5D-CE00-37B0-F4E4-CE50F840A00E}"/>
              </a:ext>
            </a:extLst>
          </p:cNvPr>
          <p:cNvGrpSpPr>
            <a:grpSpLocks noChangeAspect="1"/>
          </p:cNvGrpSpPr>
          <p:nvPr/>
        </p:nvGrpSpPr>
        <p:grpSpPr>
          <a:xfrm>
            <a:off x="10827944" y="7578096"/>
            <a:ext cx="2124814" cy="2124814"/>
            <a:chOff x="0" y="0"/>
            <a:chExt cx="14840029" cy="14840029"/>
          </a:xfrm>
        </p:grpSpPr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578A0072-550E-BACC-D779-F1F7F349A0C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70F15E05-ECC0-9CDA-018D-66765381D884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8161CD2E-F1A5-32D3-4825-79A18622299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11"/>
              <a:stretch>
                <a:fillRect l="-116452" t="-94530" r="-21087" b="-123606"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63" name="TextBox 31">
            <a:extLst>
              <a:ext uri="{FF2B5EF4-FFF2-40B4-BE49-F238E27FC236}">
                <a16:creationId xmlns:a16="http://schemas.microsoft.com/office/drawing/2014/main" id="{BCCA6874-2BC0-8461-EEF5-80680024D298}"/>
              </a:ext>
            </a:extLst>
          </p:cNvPr>
          <p:cNvSpPr txBox="1"/>
          <p:nvPr/>
        </p:nvSpPr>
        <p:spPr>
          <a:xfrm>
            <a:off x="8966771" y="4731031"/>
            <a:ext cx="9321229" cy="278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endParaRPr/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A mobile app built with React Native and Firebase, integrating: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Shelter detection via map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AI-powered emotional support chatbot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Volunteer network management</a:t>
            </a:r>
          </a:p>
          <a:p>
            <a:pPr marL="496571" lvl="1" indent="-248285" algn="just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Child-safe modes 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13415D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64" name="TextBox 34">
            <a:extLst>
              <a:ext uri="{FF2B5EF4-FFF2-40B4-BE49-F238E27FC236}">
                <a16:creationId xmlns:a16="http://schemas.microsoft.com/office/drawing/2014/main" id="{7CFC32D4-9B8E-36FF-9C62-3D966110DE78}"/>
              </a:ext>
            </a:extLst>
          </p:cNvPr>
          <p:cNvSpPr txBox="1"/>
          <p:nvPr/>
        </p:nvSpPr>
        <p:spPr>
          <a:xfrm>
            <a:off x="2413074" y="2416535"/>
            <a:ext cx="3911526" cy="1910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5439" dirty="0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</a:rPr>
              <a:t>SAFEZONE</a:t>
            </a:r>
          </a:p>
          <a:p>
            <a:pPr algn="ctr" rtl="1">
              <a:lnSpc>
                <a:spcPts val="7615"/>
              </a:lnSpc>
              <a:spcBef>
                <a:spcPct val="0"/>
              </a:spcBef>
            </a:pPr>
            <a:endParaRPr lang="en-US" sz="5439" dirty="0">
              <a:solidFill>
                <a:srgbClr val="162B57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65" name="TextBox 35">
            <a:extLst>
              <a:ext uri="{FF2B5EF4-FFF2-40B4-BE49-F238E27FC236}">
                <a16:creationId xmlns:a16="http://schemas.microsoft.com/office/drawing/2014/main" id="{CE1B5852-4BE0-C467-52F2-42DA17863A43}"/>
              </a:ext>
            </a:extLst>
          </p:cNvPr>
          <p:cNvSpPr txBox="1"/>
          <p:nvPr/>
        </p:nvSpPr>
        <p:spPr>
          <a:xfrm>
            <a:off x="529406" y="5672197"/>
            <a:ext cx="7371741" cy="158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SafeZone is an emergency app that provides alerts, shelter locations, emotional support, and volunteer connections — all in one place.</a:t>
            </a:r>
          </a:p>
        </p:txBody>
      </p:sp>
      <p:sp>
        <p:nvSpPr>
          <p:cNvPr id="66" name="TextBox 36">
            <a:extLst>
              <a:ext uri="{FF2B5EF4-FFF2-40B4-BE49-F238E27FC236}">
                <a16:creationId xmlns:a16="http://schemas.microsoft.com/office/drawing/2014/main" id="{7F35C6F2-4C85-D9CB-2A67-AF4252CCA38C}"/>
              </a:ext>
            </a:extLst>
          </p:cNvPr>
          <p:cNvSpPr txBox="1"/>
          <p:nvPr/>
        </p:nvSpPr>
        <p:spPr>
          <a:xfrm>
            <a:off x="541041" y="8052176"/>
            <a:ext cx="7546356" cy="158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Fast emergency support, volunteer connections, real-time alerts, AI emotional help, and stronger communities.</a:t>
            </a:r>
          </a:p>
        </p:txBody>
      </p:sp>
      <p:sp>
        <p:nvSpPr>
          <p:cNvPr id="67" name="TextBox 37">
            <a:extLst>
              <a:ext uri="{FF2B5EF4-FFF2-40B4-BE49-F238E27FC236}">
                <a16:creationId xmlns:a16="http://schemas.microsoft.com/office/drawing/2014/main" id="{6B38F37F-2799-5846-F245-9538CD25A8F6}"/>
              </a:ext>
            </a:extLst>
          </p:cNvPr>
          <p:cNvSpPr txBox="1"/>
          <p:nvPr/>
        </p:nvSpPr>
        <p:spPr>
          <a:xfrm>
            <a:off x="8958559" y="2844945"/>
            <a:ext cx="8765938" cy="158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Children and vulnerable groups often lack immediate support and clear guidance in crises, increasing stress and reducing resilience.</a:t>
            </a:r>
          </a:p>
        </p:txBody>
      </p:sp>
      <p:sp>
        <p:nvSpPr>
          <p:cNvPr id="68" name="TextBox 38">
            <a:extLst>
              <a:ext uri="{FF2B5EF4-FFF2-40B4-BE49-F238E27FC236}">
                <a16:creationId xmlns:a16="http://schemas.microsoft.com/office/drawing/2014/main" id="{E14A00B5-6EF8-A85E-D249-7E35DB7B17DF}"/>
              </a:ext>
            </a:extLst>
          </p:cNvPr>
          <p:cNvSpPr txBox="1"/>
          <p:nvPr/>
        </p:nvSpPr>
        <p:spPr>
          <a:xfrm>
            <a:off x="13995533" y="9741010"/>
            <a:ext cx="15964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881AB"/>
                </a:solidFill>
                <a:latin typeface="Suez One"/>
                <a:ea typeface="Suez One"/>
                <a:cs typeface="Suez One"/>
                <a:sym typeface="Suez One"/>
              </a:rPr>
              <a:t>Gal Yossef </a:t>
            </a:r>
          </a:p>
        </p:txBody>
      </p:sp>
      <p:sp>
        <p:nvSpPr>
          <p:cNvPr id="69" name="TextBox 39">
            <a:extLst>
              <a:ext uri="{FF2B5EF4-FFF2-40B4-BE49-F238E27FC236}">
                <a16:creationId xmlns:a16="http://schemas.microsoft.com/office/drawing/2014/main" id="{224852AA-8671-71A9-96A7-E6FF68371EBF}"/>
              </a:ext>
            </a:extLst>
          </p:cNvPr>
          <p:cNvSpPr txBox="1"/>
          <p:nvPr/>
        </p:nvSpPr>
        <p:spPr>
          <a:xfrm>
            <a:off x="10920364" y="9741010"/>
            <a:ext cx="193997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881AB"/>
                </a:solidFill>
                <a:latin typeface="Suez One"/>
                <a:ea typeface="Suez One"/>
                <a:cs typeface="Suez One"/>
                <a:sym typeface="Suez One"/>
              </a:rPr>
              <a:t>Tal Refaelov </a:t>
            </a:r>
          </a:p>
        </p:txBody>
      </p:sp>
    </p:spTree>
    <p:extLst>
      <p:ext uri="{BB962C8B-B14F-4D97-AF65-F5344CB8AC3E}">
        <p14:creationId xmlns:p14="http://schemas.microsoft.com/office/powerpoint/2010/main" val="236653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AutoShape 3"/>
          <p:cNvSpPr/>
          <p:nvPr/>
        </p:nvSpPr>
        <p:spPr>
          <a:xfrm flipV="1">
            <a:off x="6127216" y="688410"/>
            <a:ext cx="1105512" cy="0"/>
          </a:xfrm>
          <a:prstGeom prst="line">
            <a:avLst/>
          </a:prstGeom>
          <a:ln w="38100" cap="flat">
            <a:solidFill>
              <a:srgbClr val="36D48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141753" y="2134213"/>
            <a:ext cx="18606981" cy="78412"/>
          </a:xfrm>
          <a:custGeom>
            <a:avLst/>
            <a:gdLst/>
            <a:ahLst/>
            <a:cxnLst/>
            <a:rect l="l" t="t" r="r" b="b"/>
            <a:pathLst>
              <a:path w="18606981" h="78412">
                <a:moveTo>
                  <a:pt x="0" y="0"/>
                </a:moveTo>
                <a:lnTo>
                  <a:pt x="18606982" y="0"/>
                </a:lnTo>
                <a:lnTo>
                  <a:pt x="18606982" y="78412"/>
                </a:lnTo>
                <a:lnTo>
                  <a:pt x="0" y="7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310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408126" y="8271800"/>
            <a:ext cx="7842035" cy="640461"/>
            <a:chOff x="0" y="0"/>
            <a:chExt cx="2065392" cy="1686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5392" cy="168681"/>
            </a:xfrm>
            <a:custGeom>
              <a:avLst/>
              <a:gdLst/>
              <a:ahLst/>
              <a:cxnLst/>
              <a:rect l="l" t="t" r="r" b="b"/>
              <a:pathLst>
                <a:path w="2065392" h="168681">
                  <a:moveTo>
                    <a:pt x="0" y="0"/>
                  </a:moveTo>
                  <a:lnTo>
                    <a:pt x="2065392" y="0"/>
                  </a:lnTo>
                  <a:lnTo>
                    <a:pt x="2065392" y="168681"/>
                  </a:lnTo>
                  <a:lnTo>
                    <a:pt x="0" y="168681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65392" cy="225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CONCLUSIONS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504061" y="8271800"/>
            <a:ext cx="450966" cy="614604"/>
          </a:xfrm>
          <a:custGeom>
            <a:avLst/>
            <a:gdLst/>
            <a:ahLst/>
            <a:cxnLst/>
            <a:rect l="l" t="t" r="r" b="b"/>
            <a:pathLst>
              <a:path w="450966" h="614604">
                <a:moveTo>
                  <a:pt x="0" y="0"/>
                </a:moveTo>
                <a:lnTo>
                  <a:pt x="450965" y="0"/>
                </a:lnTo>
                <a:lnTo>
                  <a:pt x="450965" y="614604"/>
                </a:lnTo>
                <a:lnTo>
                  <a:pt x="0" y="614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9" name="Group 9"/>
          <p:cNvGrpSpPr/>
          <p:nvPr/>
        </p:nvGrpSpPr>
        <p:grpSpPr>
          <a:xfrm>
            <a:off x="8764511" y="2813987"/>
            <a:ext cx="9255988" cy="640461"/>
            <a:chOff x="0" y="0"/>
            <a:chExt cx="2437791" cy="168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7791" cy="168681"/>
            </a:xfrm>
            <a:custGeom>
              <a:avLst/>
              <a:gdLst/>
              <a:ahLst/>
              <a:cxnLst/>
              <a:rect l="l" t="t" r="r" b="b"/>
              <a:pathLst>
                <a:path w="2437791" h="168681">
                  <a:moveTo>
                    <a:pt x="0" y="0"/>
                  </a:moveTo>
                  <a:lnTo>
                    <a:pt x="2437791" y="0"/>
                  </a:lnTo>
                  <a:lnTo>
                    <a:pt x="2437791" y="168681"/>
                  </a:lnTo>
                  <a:lnTo>
                    <a:pt x="0" y="168681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437791" cy="225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IMPORTANT SCREENS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4511" y="3797348"/>
            <a:ext cx="2773917" cy="5538015"/>
            <a:chOff x="0" y="0"/>
            <a:chExt cx="862398" cy="17217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2397" cy="1721742"/>
            </a:xfrm>
            <a:custGeom>
              <a:avLst/>
              <a:gdLst/>
              <a:ahLst/>
              <a:cxnLst/>
              <a:rect l="l" t="t" r="r" b="b"/>
              <a:pathLst>
                <a:path w="862397" h="1721742">
                  <a:moveTo>
                    <a:pt x="111639" y="0"/>
                  </a:moveTo>
                  <a:lnTo>
                    <a:pt x="750759" y="0"/>
                  </a:lnTo>
                  <a:cubicBezTo>
                    <a:pt x="812415" y="0"/>
                    <a:pt x="862397" y="49982"/>
                    <a:pt x="862397" y="111639"/>
                  </a:cubicBezTo>
                  <a:lnTo>
                    <a:pt x="862397" y="1610103"/>
                  </a:lnTo>
                  <a:cubicBezTo>
                    <a:pt x="862397" y="1639712"/>
                    <a:pt x="850636" y="1668108"/>
                    <a:pt x="829699" y="1689044"/>
                  </a:cubicBezTo>
                  <a:cubicBezTo>
                    <a:pt x="808763" y="1709980"/>
                    <a:pt x="780367" y="1721742"/>
                    <a:pt x="750759" y="1721742"/>
                  </a:cubicBezTo>
                  <a:lnTo>
                    <a:pt x="111639" y="1721742"/>
                  </a:lnTo>
                  <a:cubicBezTo>
                    <a:pt x="82030" y="1721742"/>
                    <a:pt x="53635" y="1709980"/>
                    <a:pt x="32698" y="1689044"/>
                  </a:cubicBezTo>
                  <a:cubicBezTo>
                    <a:pt x="11762" y="1668108"/>
                    <a:pt x="0" y="1639712"/>
                    <a:pt x="0" y="1610103"/>
                  </a:cubicBezTo>
                  <a:lnTo>
                    <a:pt x="0" y="111639"/>
                  </a:lnTo>
                  <a:cubicBezTo>
                    <a:pt x="0" y="82030"/>
                    <a:pt x="11762" y="53635"/>
                    <a:pt x="32698" y="32698"/>
                  </a:cubicBezTo>
                  <a:cubicBezTo>
                    <a:pt x="53635" y="11762"/>
                    <a:pt x="82030" y="0"/>
                    <a:pt x="1116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862398" cy="177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859000" y="3873711"/>
            <a:ext cx="2584939" cy="5385289"/>
          </a:xfrm>
          <a:custGeom>
            <a:avLst/>
            <a:gdLst/>
            <a:ahLst/>
            <a:cxnLst/>
            <a:rect l="l" t="t" r="r" b="b"/>
            <a:pathLst>
              <a:path w="2584939" h="5385289">
                <a:moveTo>
                  <a:pt x="0" y="0"/>
                </a:moveTo>
                <a:lnTo>
                  <a:pt x="2584939" y="0"/>
                </a:lnTo>
                <a:lnTo>
                  <a:pt x="2584939" y="5385289"/>
                </a:lnTo>
                <a:lnTo>
                  <a:pt x="0" y="5385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softEdge rad="127000"/>
          </a:effectLst>
        </p:spPr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16" name="TextBox 16"/>
          <p:cNvSpPr txBox="1"/>
          <p:nvPr/>
        </p:nvSpPr>
        <p:spPr>
          <a:xfrm>
            <a:off x="6127216" y="-27229"/>
            <a:ext cx="1615432" cy="1205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</a:rPr>
              <a:t>SE-B-8</a:t>
            </a:r>
          </a:p>
          <a:p>
            <a:pPr algn="ctr" rtl="1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162B57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27216" y="659835"/>
            <a:ext cx="7122021" cy="181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2606">
                <a:solidFill>
                  <a:srgbClr val="36D488"/>
                </a:solidFill>
                <a:latin typeface="Suez One"/>
                <a:ea typeface="Suez One"/>
                <a:cs typeface="Suez One"/>
                <a:sym typeface="Suez One"/>
              </a:rPr>
              <a:t>Software Engineering</a:t>
            </a:r>
          </a:p>
          <a:p>
            <a:pPr algn="r" rtl="1">
              <a:lnSpc>
                <a:spcPts val="3649"/>
              </a:lnSpc>
            </a:pPr>
            <a:r>
              <a:rPr lang="ar-EG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  <a:rtl/>
              </a:rPr>
              <a:t>    </a:t>
            </a:r>
            <a:r>
              <a:rPr lang="en-US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</a:rPr>
              <a:t>Students: Tal Israel Refaelov and Gal Yossef</a:t>
            </a:r>
          </a:p>
          <a:p>
            <a:pPr algn="l" rtl="1">
              <a:lnSpc>
                <a:spcPts val="3649"/>
              </a:lnSpc>
              <a:spcBef>
                <a:spcPct val="0"/>
              </a:spcBef>
            </a:pPr>
            <a:r>
              <a:rPr lang="ar-EG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  <a:rtl/>
              </a:rPr>
              <a:t>    </a:t>
            </a:r>
            <a:r>
              <a:rPr lang="en-US" sz="2606">
                <a:solidFill>
                  <a:srgbClr val="162B57"/>
                </a:solidFill>
                <a:latin typeface="Suez One"/>
                <a:ea typeface="Suez One"/>
                <a:cs typeface="Suez One"/>
                <a:sym typeface="Suez One"/>
              </a:rPr>
              <a:t>Advisor: Ms. Alona Kutsyy</a:t>
            </a:r>
          </a:p>
          <a:p>
            <a:pPr algn="l" rtl="1">
              <a:lnSpc>
                <a:spcPts val="3649"/>
              </a:lnSpc>
              <a:spcBef>
                <a:spcPct val="0"/>
              </a:spcBef>
            </a:pPr>
            <a:endParaRPr lang="en-US" sz="2606">
              <a:solidFill>
                <a:srgbClr val="162B57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19892" y="8531477"/>
            <a:ext cx="7730269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endParaRPr/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SafeZone enhances emergency response by delivering real-time alerts, emotional support, and community connections in an easy-to-use app.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13415D"/>
              </a:solidFill>
              <a:latin typeface="Suez One"/>
              <a:ea typeface="Suez One"/>
              <a:cs typeface="Suez One"/>
              <a:sym typeface="Suez One"/>
            </a:endParaR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13415D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408126" y="5394406"/>
            <a:ext cx="7842035" cy="640461"/>
            <a:chOff x="0" y="0"/>
            <a:chExt cx="2065392" cy="16868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65392" cy="168681"/>
            </a:xfrm>
            <a:custGeom>
              <a:avLst/>
              <a:gdLst/>
              <a:ahLst/>
              <a:cxnLst/>
              <a:rect l="l" t="t" r="r" b="b"/>
              <a:pathLst>
                <a:path w="2065392" h="168681">
                  <a:moveTo>
                    <a:pt x="0" y="0"/>
                  </a:moveTo>
                  <a:lnTo>
                    <a:pt x="2065392" y="0"/>
                  </a:lnTo>
                  <a:lnTo>
                    <a:pt x="2065392" y="168681"/>
                  </a:lnTo>
                  <a:lnTo>
                    <a:pt x="0" y="168681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065392" cy="225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METHOD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485011" y="5384881"/>
            <a:ext cx="684070" cy="640461"/>
          </a:xfrm>
          <a:custGeom>
            <a:avLst/>
            <a:gdLst/>
            <a:ahLst/>
            <a:cxnLst/>
            <a:rect l="l" t="t" r="r" b="b"/>
            <a:pathLst>
              <a:path w="684070" h="640461">
                <a:moveTo>
                  <a:pt x="0" y="0"/>
                </a:moveTo>
                <a:lnTo>
                  <a:pt x="684070" y="0"/>
                </a:lnTo>
                <a:lnTo>
                  <a:pt x="684070" y="640460"/>
                </a:lnTo>
                <a:lnTo>
                  <a:pt x="0" y="64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23" name="TextBox 23"/>
          <p:cNvSpPr txBox="1"/>
          <p:nvPr/>
        </p:nvSpPr>
        <p:spPr>
          <a:xfrm>
            <a:off x="557306" y="5681324"/>
            <a:ext cx="7865101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endParaRPr dirty="0"/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Built with React Native and Firebase, </a:t>
            </a:r>
            <a:r>
              <a:rPr lang="en-US" sz="2300" dirty="0" err="1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SafeZone</a:t>
            </a:r>
            <a:r>
              <a:rPr lang="en-US" sz="2300" dirty="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 includes: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• Google Maps shelter locator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• AI emotional support chatbot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• Volunteer network management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13415D"/>
                </a:solidFill>
                <a:latin typeface="Suez One"/>
                <a:ea typeface="Suez One"/>
                <a:cs typeface="Suez One"/>
                <a:sym typeface="Suez One"/>
              </a:rPr>
              <a:t>• Child-safe design &amp; data protection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52778" y="3797348"/>
            <a:ext cx="2773917" cy="5538015"/>
            <a:chOff x="0" y="0"/>
            <a:chExt cx="862398" cy="17217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2397" cy="1721742"/>
            </a:xfrm>
            <a:custGeom>
              <a:avLst/>
              <a:gdLst/>
              <a:ahLst/>
              <a:cxnLst/>
              <a:rect l="l" t="t" r="r" b="b"/>
              <a:pathLst>
                <a:path w="862397" h="1721742">
                  <a:moveTo>
                    <a:pt x="111639" y="0"/>
                  </a:moveTo>
                  <a:lnTo>
                    <a:pt x="750759" y="0"/>
                  </a:lnTo>
                  <a:cubicBezTo>
                    <a:pt x="812415" y="0"/>
                    <a:pt x="862397" y="49982"/>
                    <a:pt x="862397" y="111639"/>
                  </a:cubicBezTo>
                  <a:lnTo>
                    <a:pt x="862397" y="1610103"/>
                  </a:lnTo>
                  <a:cubicBezTo>
                    <a:pt x="862397" y="1639712"/>
                    <a:pt x="850636" y="1668108"/>
                    <a:pt x="829699" y="1689044"/>
                  </a:cubicBezTo>
                  <a:cubicBezTo>
                    <a:pt x="808763" y="1709980"/>
                    <a:pt x="780367" y="1721742"/>
                    <a:pt x="750759" y="1721742"/>
                  </a:cubicBezTo>
                  <a:lnTo>
                    <a:pt x="111639" y="1721742"/>
                  </a:lnTo>
                  <a:cubicBezTo>
                    <a:pt x="82030" y="1721742"/>
                    <a:pt x="53635" y="1709980"/>
                    <a:pt x="32698" y="1689044"/>
                  </a:cubicBezTo>
                  <a:cubicBezTo>
                    <a:pt x="11762" y="1668108"/>
                    <a:pt x="0" y="1639712"/>
                    <a:pt x="0" y="1610103"/>
                  </a:cubicBezTo>
                  <a:lnTo>
                    <a:pt x="0" y="111639"/>
                  </a:lnTo>
                  <a:cubicBezTo>
                    <a:pt x="0" y="82030"/>
                    <a:pt x="11762" y="53635"/>
                    <a:pt x="32698" y="32698"/>
                  </a:cubicBezTo>
                  <a:cubicBezTo>
                    <a:pt x="53635" y="11762"/>
                    <a:pt x="82030" y="0"/>
                    <a:pt x="1116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862398" cy="177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2147267" y="3873711"/>
            <a:ext cx="2584939" cy="5385289"/>
          </a:xfrm>
          <a:custGeom>
            <a:avLst/>
            <a:gdLst/>
            <a:ahLst/>
            <a:cxnLst/>
            <a:rect l="l" t="t" r="r" b="b"/>
            <a:pathLst>
              <a:path w="2584939" h="5385289">
                <a:moveTo>
                  <a:pt x="0" y="0"/>
                </a:moveTo>
                <a:lnTo>
                  <a:pt x="2584939" y="0"/>
                </a:lnTo>
                <a:lnTo>
                  <a:pt x="2584939" y="5385289"/>
                </a:lnTo>
                <a:lnTo>
                  <a:pt x="0" y="53852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effectLst>
            <a:softEdge rad="127000"/>
          </a:effectLst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grpSp>
        <p:nvGrpSpPr>
          <p:cNvPr id="28" name="Group 28"/>
          <p:cNvGrpSpPr/>
          <p:nvPr/>
        </p:nvGrpSpPr>
        <p:grpSpPr>
          <a:xfrm>
            <a:off x="15246582" y="3797348"/>
            <a:ext cx="2773917" cy="5538015"/>
            <a:chOff x="0" y="0"/>
            <a:chExt cx="862398" cy="17217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62397" cy="1721742"/>
            </a:xfrm>
            <a:custGeom>
              <a:avLst/>
              <a:gdLst/>
              <a:ahLst/>
              <a:cxnLst/>
              <a:rect l="l" t="t" r="r" b="b"/>
              <a:pathLst>
                <a:path w="862397" h="1721742">
                  <a:moveTo>
                    <a:pt x="111639" y="0"/>
                  </a:moveTo>
                  <a:lnTo>
                    <a:pt x="750759" y="0"/>
                  </a:lnTo>
                  <a:cubicBezTo>
                    <a:pt x="812415" y="0"/>
                    <a:pt x="862397" y="49982"/>
                    <a:pt x="862397" y="111639"/>
                  </a:cubicBezTo>
                  <a:lnTo>
                    <a:pt x="862397" y="1610103"/>
                  </a:lnTo>
                  <a:cubicBezTo>
                    <a:pt x="862397" y="1639712"/>
                    <a:pt x="850636" y="1668108"/>
                    <a:pt x="829699" y="1689044"/>
                  </a:cubicBezTo>
                  <a:cubicBezTo>
                    <a:pt x="808763" y="1709980"/>
                    <a:pt x="780367" y="1721742"/>
                    <a:pt x="750759" y="1721742"/>
                  </a:cubicBezTo>
                  <a:lnTo>
                    <a:pt x="111639" y="1721742"/>
                  </a:lnTo>
                  <a:cubicBezTo>
                    <a:pt x="82030" y="1721742"/>
                    <a:pt x="53635" y="1709980"/>
                    <a:pt x="32698" y="1689044"/>
                  </a:cubicBezTo>
                  <a:cubicBezTo>
                    <a:pt x="11762" y="1668108"/>
                    <a:pt x="0" y="1639712"/>
                    <a:pt x="0" y="1610103"/>
                  </a:cubicBezTo>
                  <a:lnTo>
                    <a:pt x="0" y="111639"/>
                  </a:lnTo>
                  <a:cubicBezTo>
                    <a:pt x="0" y="82030"/>
                    <a:pt x="11762" y="53635"/>
                    <a:pt x="32698" y="32698"/>
                  </a:cubicBezTo>
                  <a:cubicBezTo>
                    <a:pt x="53635" y="11762"/>
                    <a:pt x="82030" y="0"/>
                    <a:pt x="1116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862398" cy="177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5341072" y="3873711"/>
            <a:ext cx="2584939" cy="5385289"/>
          </a:xfrm>
          <a:custGeom>
            <a:avLst/>
            <a:gdLst/>
            <a:ahLst/>
            <a:cxnLst/>
            <a:rect l="l" t="t" r="r" b="b"/>
            <a:pathLst>
              <a:path w="2584939" h="5385289">
                <a:moveTo>
                  <a:pt x="0" y="0"/>
                </a:moveTo>
                <a:lnTo>
                  <a:pt x="2584938" y="0"/>
                </a:lnTo>
                <a:lnTo>
                  <a:pt x="2584938" y="5385289"/>
                </a:lnTo>
                <a:lnTo>
                  <a:pt x="0" y="53852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softEdge rad="127000"/>
          </a:effectLst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grpSp>
        <p:nvGrpSpPr>
          <p:cNvPr id="32" name="Group 32"/>
          <p:cNvGrpSpPr/>
          <p:nvPr/>
        </p:nvGrpSpPr>
        <p:grpSpPr>
          <a:xfrm>
            <a:off x="408126" y="2259962"/>
            <a:ext cx="7842035" cy="645943"/>
            <a:chOff x="0" y="0"/>
            <a:chExt cx="2065392" cy="1701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65392" cy="170125"/>
            </a:xfrm>
            <a:custGeom>
              <a:avLst/>
              <a:gdLst/>
              <a:ahLst/>
              <a:cxnLst/>
              <a:rect l="l" t="t" r="r" b="b"/>
              <a:pathLst>
                <a:path w="2065392" h="170125">
                  <a:moveTo>
                    <a:pt x="0" y="0"/>
                  </a:moveTo>
                  <a:lnTo>
                    <a:pt x="2065392" y="0"/>
                  </a:lnTo>
                  <a:lnTo>
                    <a:pt x="2065392" y="170125"/>
                  </a:lnTo>
                  <a:lnTo>
                    <a:pt x="0" y="170125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2065392" cy="227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 SYSTEM ARCHTIECTURE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578537" y="2905905"/>
            <a:ext cx="5501213" cy="2441163"/>
          </a:xfrm>
          <a:custGeom>
            <a:avLst/>
            <a:gdLst/>
            <a:ahLst/>
            <a:cxnLst/>
            <a:rect l="l" t="t" r="r" b="b"/>
            <a:pathLst>
              <a:path w="5501213" h="2441163">
                <a:moveTo>
                  <a:pt x="0" y="0"/>
                </a:moveTo>
                <a:lnTo>
                  <a:pt x="5501213" y="0"/>
                </a:lnTo>
                <a:lnTo>
                  <a:pt x="5501213" y="2441164"/>
                </a:lnTo>
                <a:lnTo>
                  <a:pt x="0" y="24411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6" name="Freeform 36"/>
          <p:cNvSpPr/>
          <p:nvPr/>
        </p:nvSpPr>
        <p:spPr>
          <a:xfrm>
            <a:off x="465961" y="2299061"/>
            <a:ext cx="562264" cy="562264"/>
          </a:xfrm>
          <a:custGeom>
            <a:avLst/>
            <a:gdLst/>
            <a:ahLst/>
            <a:cxnLst/>
            <a:rect l="l" t="t" r="r" b="b"/>
            <a:pathLst>
              <a:path w="562264" h="562264">
                <a:moveTo>
                  <a:pt x="0" y="0"/>
                </a:moveTo>
                <a:lnTo>
                  <a:pt x="562263" y="0"/>
                </a:lnTo>
                <a:lnTo>
                  <a:pt x="562263" y="562264"/>
                </a:lnTo>
                <a:lnTo>
                  <a:pt x="0" y="562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193</Words>
  <Application>Microsoft Office PowerPoint</Application>
  <PresentationFormat>Custom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Suez One</vt:lpstr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SE-B-8</dc:title>
  <dc:creator>Mosab Khalaf</dc:creator>
  <cp:lastModifiedBy>Mosab Khalaf</cp:lastModifiedBy>
  <cp:revision>3</cp:revision>
  <dcterms:created xsi:type="dcterms:W3CDTF">2006-08-16T00:00:00Z</dcterms:created>
  <dcterms:modified xsi:type="dcterms:W3CDTF">2026-05-19T15:28:28Z</dcterms:modified>
  <dc:identifier>DAGoGKOniKg</dc:identifier>
</cp:coreProperties>
</file>